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Модель X-Human Lingkong K3, официальный даташит + КП производителя от 21.01.2026. Цель — обосновать переход с ручной высотной мойки на робота.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ручной мойки. Данные: ГородРабот.ру (зарплата), Приказ №782н, статистика Роструда. Цена ручной мойки ~100 ₽/м² — база для сравнения дальше.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ТТХ из официального даташита X-Human. Паспортные 720 м²/ч в расчёте НЕ используем — дальше берём консервативную реальную выработку.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Ценообразование по формуле клиента: EXW $39760 (агентская цена со скидкой 30%) x81 + логистика ~250к + НДС 20% + сбор 30к = себестоимость 4,19 млн; +30% маржа = розница 5,45 млн ₽. Пошлина 0% — допущение, проверить у брокера.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честности. Паспорт 720, в расчёте берём 250-300 (реально с простоями), ручная ~50 м²/ч на человека. Это защищает от вопроса скептика.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Себестоимость 1 м² роботом: при 60к м²/год = 32 ₽ против 100 ₽ ручной. Точка безубыточности 19 400 м²/год. Это самый защищаемый слайд — показывает, когда экономика 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Сценарии A/B/C. A портфель 60к — 1,1 года; B крупный БЦ 100к — 0,6 года; C малый 16к — не окупается. Опекс робота 1,16 млн/год (оператор 8 мес + сервис 200к). Честно показываем, где не 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Аргументы помимо ROI. Важно на объектах, где чистая экономика пограничная — безопасность, ESG, инспекция фасада, имидж часто перевешивают.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Честные риски + как ПРОФРОБОТ их закрывает. Показывать проактивно — снимает возражения и повышает доверие.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+ CTA. Три числа: цена 5,45 млн, окупаемость от года, в 5 раз быстрее. Призыв — аудит, расчёт, демо. Не давим на ROI как единственный аргумент.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54864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5720"/>
            <a:ext cx="1554480" cy="1554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РОБОТ-МОЙЩИК ФАСАДОВ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Роботизированная мойка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остекления вместо промышленного альпинизма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Экономическое обоснование для собственников и управляющих компаний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828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 расчёте: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X-Human Lingkong K3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230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Высотный робот для мойки стеклянных фасадов · рабочая высота до 600 м · 720 м²/ч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ПРОФРОБОТ · дистрибуция робототехники для клининга в РФ и ЕАЭС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НАЧИНАЕМ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Ручная высотная мойка — дорого, рискованно, нестабильно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EF2F6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74520"/>
            <a:ext cx="603504" cy="6035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745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46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 для жизни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093976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 с высоты — в тройке причин смертельного травматизма в РФ. До 60% инцидентов заканчиваются гибелью.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60020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EF2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874520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87768" y="17465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Ответственность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87768" y="2093976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Приказ Минтруда №782н, ст. 143 УК РФ: штрафы, приостановка работ, уголовная ответственность при НС.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EF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246120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461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3118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Дефицит кадров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3465576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 промальпиниста в Москве ~145 тыс. ₽ и растёт; опытных специалистов всё меньше.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297180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EF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3246120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2461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87768" y="3118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Человеческий фактор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87768" y="3465576"/>
            <a:ext cx="4251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и скорость зависят от бригады, погоды, усталости. Стабильности нет.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цена ручной мойки остекления в Москве — около 100 ₽/м² за одну мойку.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X-Human Lingkong K3 — что это за машина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55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 м²/ч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4003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паспортная производительность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20440" y="1645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1755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600 м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0" y="24003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высота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3558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1200–2000 м²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85800" y="40005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смену (по кейсам, &gt;100 объектов)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20440" y="32461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33558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 л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657600" y="40005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воды в день на здание 100 м, без химии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5486400" cy="2971800"/>
          </a:xfrm>
          <a:prstGeom prst="roundRect">
            <a:avLst>
              <a:gd name="adj" fmla="val 2462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Технические характеристики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Адгезия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0" y="22860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присосок, удержание при ветре 12 баллов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26883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Питание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0" y="26883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АКБ 48 В / 50 Ач, 2 шт., ~3 ч каждая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30906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30906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IP64 · температура −10…+45 °C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55080" y="3493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0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замкнутый оборот, бак 9 л, только водопровод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55080" y="3895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46720" y="38953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самоблокировка на тросе при потере питания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Габариты / масса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0" y="4297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1377×1000×288 мм · 72–73 кг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Поверхности: гладкое стекло и полированный камень · вертикаль, наклон, горизонталь (0–90°)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5285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Комплект поставки: робот · 2 АКБ · контроллер H-12 · зарядное · страховочный трос с катушкой · мобильная опора · воронка. Гарантия 12 мес.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формируется цена для клиента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395728" cy="219456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8424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завода</a:t>
            </a:r>
            <a:endParaRPr lang="en-US" sz="14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EXW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$39 760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3 220 560 ₽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63016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агента −30%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80944" y="26974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28416" y="1783080"/>
            <a:ext cx="2395728" cy="219456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/>
        </p:spPr>
      </p:sp>
      <p:sp>
        <p:nvSpPr>
          <p:cNvPr id="11" name="Text 9"/>
          <p:cNvSpPr/>
          <p:nvPr/>
        </p:nvSpPr>
        <p:spPr>
          <a:xfrm>
            <a:off x="3465576" y="198424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ввоз в РФ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19856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 млн ₽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65576" y="32004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 · НДС 20% · сбор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65576" y="363016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пошлина 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26974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08192" y="1783080"/>
            <a:ext cx="2395728" cy="219456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98424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Себестоимость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99632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4,19 млн ₽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45352" y="32004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cost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45352" y="363016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затраты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40496" y="269748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87968" y="1783080"/>
            <a:ext cx="2395728" cy="219456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/>
        </p:spPr>
      </p:sp>
      <p:sp>
        <p:nvSpPr>
          <p:cNvPr id="23" name="Text 21"/>
          <p:cNvSpPr/>
          <p:nvPr/>
        </p:nvSpPr>
        <p:spPr>
          <a:xfrm>
            <a:off x="9025128" y="198424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маржа 30%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979408" y="26974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+ 1,26 млн ₽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25128" y="32004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 дистрибьютора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25128" y="363016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ПРОФРОБОТ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526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РОЗНИЧНАЯ ЦЕНА ДЛЯ КЛИЕНТА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44805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5,45 млн ₽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822960" y="5029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полный комплект «под ключ», с растаможкой и гарантией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81 ₽/$ · пошлина HS 8479509090 — 0% (уточняется у брокера) · условия завода: EXW, предоплата 50%, срок 15–20 дней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РАСЧЁТ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Считаем не по паспорту, а по реальной выработке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Паспортные 720 м²/ч в жизни недостижимы: время уходит на монтаж лебёдки, перестановку, простои по ветру, углы и края. В модель закладываем консервативную выработку — так расчёт переживёт любую проверку.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K3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569464"/>
            <a:ext cx="6217920" cy="548640"/>
          </a:xfrm>
          <a:prstGeom prst="roundRect">
            <a:avLst>
              <a:gd name="adj" fmla="val 8333"/>
            </a:avLst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25146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 м²/ч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55480" y="25146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вендора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55701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расчёте (реально)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3611880"/>
            <a:ext cx="2374900" cy="548640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35570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250–300 м²/ч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2460" y="355701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консервативно, с простоями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5994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мойка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4654296"/>
            <a:ext cx="822960" cy="548640"/>
          </a:xfrm>
          <a:prstGeom prst="roundRect">
            <a:avLst>
              <a:gd name="adj" fmla="val 8333"/>
            </a:avLst>
          </a:prstGeom>
          <a:solidFill>
            <a:srgbClr val="E4572E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45994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 м²/ч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60520" y="45994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альпинист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EF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по нижней планке робот в 5 раз быстрее человека.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8-часовой смене это 2000–2400 м² в день — против 300–400 м² у альпиниста.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ЦИФРА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Всё решает загрузка робота за год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стоимость мойки 1 м² роботом (амортизация + оператор + сервис) зависит от того, сколько робот работает в году. Ручная мойка стоит ~100 ₽/м² при любом объёме — серый блок высотой 100%.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1965960" cy="1737360"/>
          </a:xfrm>
          <a:prstGeom prst="roundRect">
            <a:avLst>
              <a:gd name="adj" fmla="val 2105"/>
            </a:avLst>
          </a:prstGeom>
          <a:solidFill>
            <a:srgbClr val="E3E8E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749601"/>
            <a:ext cx="1965960" cy="1685239"/>
          </a:xfrm>
          <a:prstGeom prst="roundRect">
            <a:avLst>
              <a:gd name="adj" fmla="val 217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02129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818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м²/год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44952" y="2697480"/>
            <a:ext cx="1965960" cy="1737360"/>
          </a:xfrm>
          <a:prstGeom prst="roundRect">
            <a:avLst>
              <a:gd name="adj" fmla="val 2105"/>
            </a:avLst>
          </a:prstGeom>
          <a:solidFill>
            <a:srgbClr val="E3E8EF"/>
          </a:solidFill>
          <a:ln/>
        </p:spPr>
      </p:sp>
      <p:sp>
        <p:nvSpPr>
          <p:cNvPr id="11" name="Shape 9"/>
          <p:cNvSpPr/>
          <p:nvPr/>
        </p:nvSpPr>
        <p:spPr>
          <a:xfrm>
            <a:off x="3044952" y="3583534"/>
            <a:ext cx="1965960" cy="851306"/>
          </a:xfrm>
          <a:prstGeom prst="roundRect">
            <a:avLst>
              <a:gd name="adj" fmla="val 4296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044952" y="323606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53512" y="45262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53512" y="4818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м²/год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66944" y="2697480"/>
            <a:ext cx="1965960" cy="1737360"/>
          </a:xfrm>
          <a:prstGeom prst="roundRect">
            <a:avLst>
              <a:gd name="adj" fmla="val 2105"/>
            </a:avLst>
          </a:prstGeom>
          <a:solidFill>
            <a:srgbClr val="E3E8EF"/>
          </a:solidFill>
          <a:ln/>
        </p:spPr>
      </p:sp>
      <p:sp>
        <p:nvSpPr>
          <p:cNvPr id="16" name="Shape 14"/>
          <p:cNvSpPr/>
          <p:nvPr/>
        </p:nvSpPr>
        <p:spPr>
          <a:xfrm>
            <a:off x="5266944" y="3878885"/>
            <a:ext cx="1965960" cy="555955"/>
          </a:xfrm>
          <a:prstGeom prst="roundRect">
            <a:avLst>
              <a:gd name="adj" fmla="val 6579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266944" y="3531413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₽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75504" y="45262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75504" y="4818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м²/год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88936" y="2697480"/>
            <a:ext cx="1965960" cy="1737360"/>
          </a:xfrm>
          <a:prstGeom prst="roundRect">
            <a:avLst>
              <a:gd name="adj" fmla="val 2105"/>
            </a:avLst>
          </a:prstGeom>
          <a:solidFill>
            <a:srgbClr val="E3E8EF"/>
          </a:solidFill>
          <a:ln/>
        </p:spPr>
      </p:sp>
      <p:sp>
        <p:nvSpPr>
          <p:cNvPr id="21" name="Shape 19"/>
          <p:cNvSpPr/>
          <p:nvPr/>
        </p:nvSpPr>
        <p:spPr>
          <a:xfrm>
            <a:off x="7488936" y="4104742"/>
            <a:ext cx="1965960" cy="330098"/>
          </a:xfrm>
          <a:prstGeom prst="roundRect">
            <a:avLst>
              <a:gd name="adj" fmla="val 1108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488936" y="375727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₽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97496" y="45262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97496" y="4818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м²/год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710928" y="2697480"/>
            <a:ext cx="1965960" cy="1737360"/>
          </a:xfrm>
          <a:prstGeom prst="roundRect">
            <a:avLst>
              <a:gd name="adj" fmla="val 2105"/>
            </a:avLst>
          </a:prstGeom>
          <a:solidFill>
            <a:srgbClr val="E3E8EF"/>
          </a:solidFill>
          <a:ln/>
        </p:spPr>
      </p:sp>
      <p:sp>
        <p:nvSpPr>
          <p:cNvPr id="26" name="Shape 24"/>
          <p:cNvSpPr/>
          <p:nvPr/>
        </p:nvSpPr>
        <p:spPr>
          <a:xfrm>
            <a:off x="9710928" y="4208983"/>
            <a:ext cx="1965960" cy="225857"/>
          </a:xfrm>
          <a:prstGeom prst="roundRect">
            <a:avLst>
              <a:gd name="adj" fmla="val 16194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9710928" y="3861511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19488" y="45262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150 000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19488" y="4818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м²/год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" y="2313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серый блок = ручная мойка ≈ 100 ₽/м²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39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безубыточности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56875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19 400 м²/год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669280" y="541324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всего ~10 дней работы робота в году.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Выше этого порога робот дешевле ручной мойки, и разрыв быстро растёт.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сценария под разные объекты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Портфель / сервис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загружен на нескольких объектах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Годовой объём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3192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60 000 м²/год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1 м² роботом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0507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₽/м²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100 ₽ ручная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457200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E8F8F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3600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48188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 года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53128" y="16916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196596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727448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04688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крупный БЦ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504688" y="2350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м² остекления · мойка 4 раза/год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3063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Годовой объём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33192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100 000 м²/год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73168" y="3794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1 м² роботом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73168" y="40507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₽/м²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100 ₽ ручная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681728" y="457200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E8F8F3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463600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18888" y="48188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 года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57616" y="16916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  <a:effectLst>
            <a:outerShdw sx="100000" sy="100000" kx="0" ky="0" algn="bl" rotWithShape="0" blurRad="88900" dist="25400" dir="5400000">
              <a:srgbClr val="9FB3C8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31936" y="1965960"/>
            <a:ext cx="658368" cy="65836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0" name="Text 28"/>
          <p:cNvSpPr/>
          <p:nvPr/>
        </p:nvSpPr>
        <p:spPr>
          <a:xfrm>
            <a:off x="8631936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409176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Малый объект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409176" y="2350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8 000 м² · мойка 2 раза/год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77656" y="3063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Годовой объём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77656" y="33192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16 000 м²/год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677656" y="3794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1 м² роботом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77656" y="40507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 ₽/м²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100 ₽ ручная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8586216" y="4572000"/>
            <a:ext cx="3154680" cy="621792"/>
          </a:xfrm>
          <a:prstGeom prst="roundRect">
            <a:avLst>
              <a:gd name="adj" fmla="val 8824"/>
            </a:avLst>
          </a:prstGeom>
          <a:solidFill>
            <a:srgbClr val="FDECE6"/>
          </a:solidFill>
          <a:ln/>
        </p:spPr>
      </p:sp>
      <p:sp>
        <p:nvSpPr>
          <p:cNvPr id="38" name="Text 36"/>
          <p:cNvSpPr/>
          <p:nvPr/>
        </p:nvSpPr>
        <p:spPr>
          <a:xfrm>
            <a:off x="8723376" y="463600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723376" y="48188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окупается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 = розничная цена 5,45 млн ₽ ÷ годовая экономия (ручная мойка − операционные расходы робота ~1,16 млн ₽/год: оператор + сервис).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робот оправдан при годовом объёме от ~20 тыс. м². На малых редко моющихся объектах выгоднее ручная мойка или аренда робота (RaaS).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ДЕНЬГИ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клиент получает сверх экономии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2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0025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уходит из зоны риска. Снимается ответственность по №782н и ст. 143 УК РФ.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53128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2F6"/>
          </a:solidFill>
          <a:ln/>
        </p:spPr>
      </p:sp>
      <p:sp>
        <p:nvSpPr>
          <p:cNvPr id="9" name="Shape 7"/>
          <p:cNvSpPr/>
          <p:nvPr/>
        </p:nvSpPr>
        <p:spPr>
          <a:xfrm>
            <a:off x="4727448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13248" y="20025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Стабильность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45736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Одинаковое качество каждый раз, без человеческого фактора и зависимости от бригады.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57616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1936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317736" y="20025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Режим 24/7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50224" y="2651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ночью и вне часов работы здания — не мешает арендаторам и посетителям.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4242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Экология и ESG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1248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химии, вода в замкнутом обороте (~20 л/день). Вклад в BREEAM/LEED-сертификацию.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53128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727448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413248" y="4242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Инспекция фасада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745736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Попутно выявляет дефекты остекления, трещины, разгерметизацию — предиктивный ремонт.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57616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631936" y="4206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9317736" y="4242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Имидж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650224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Технологичность объекта — аргумент для арендаторов класса A и премиум-гостиниц.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О ГРАНИЦАХ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робот не подходит — и как мы это закрываем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12700" dir="5400000">
              <a:srgbClr val="C9D3DE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7922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гладкие фасады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21214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Вакуум держится на стекле и полированном камне. Гнутое, фактурное, пористое — не для K3.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5786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 </a:t>
            </a:r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фасада до сделки; под сложные объекты — другие модели пула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12700" dir="5400000">
              <a:srgbClr val="C9D3DE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17922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Нужна инфраструктура кровли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73952" y="21214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Требуется страховочный трос и точки крепления. Не на каждом старом здании они есть.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73952" y="25786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 </a:t>
            </a:r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кровли на этапе подбора; смета с учётом монтажа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12700" dir="5400000">
              <a:srgbClr val="C9D3DE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" y="32735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Малый объём — дорого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360273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загрузке ниже ~20 тыс. м²/год robot дороже ручной мойки.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405993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 </a:t>
            </a:r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аренды (RaaS) вместо покупки для небольших объектов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127248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12700" dir="5400000">
              <a:srgbClr val="C9D3DE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73952" y="32735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Углы и края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3952" y="360273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Присосочный робот не домывает примыкания на 100%.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73952" y="405993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 </a:t>
            </a:r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Гибрид: робот регулярно + ручная глубокая мойка 1 раз в 1–2 года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608576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12700" dir="5400000">
              <a:srgbClr val="C9D3DE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Сервис и запчасти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50840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из-за поломки съедает экономию, запчасти идут из КНР.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554126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 </a:t>
            </a:r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 ЗИП и SLA с подменным аппаратом в РФ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4608576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63500" dist="12700" dir="5400000">
              <a:srgbClr val="C9D3DE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73952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Климат Москвы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73952" y="50840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рабочих дней, чем на Ближнем Востоке — окупаемость длиннее.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73952" y="554126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 </a:t>
            </a:r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ведём под московский сезон, без завышений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937760"/>
            <a:ext cx="2743200" cy="2743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Робот окупается там, где есть объём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2E3A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048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5,45 млн ₽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«под ключ» с растаможкой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07992" y="21488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24048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1 года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36592" y="3108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 на загруженном объекте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75904" y="214884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8558784" y="24048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5 раз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604504" y="31089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 ручной мойки, при вдвое-втрое ниже цене за м²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159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6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64515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Аудит вашего фасада и площадей → индивидуальный расчёт окупаемости → демонстрация робота на объекте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ПРОФРОБОТ · Robotex Corp · robotexcorp.ru · ceo@robotexcorp.ru · +7 925 057 77 38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2026-08-06T07:10:52Z</dcterms:created>
  <dcterms:modified xsi:type="dcterms:W3CDTF">2026-08-06T07:10:52Z</dcterms:modified>
</cp:coreProperties>
</file>